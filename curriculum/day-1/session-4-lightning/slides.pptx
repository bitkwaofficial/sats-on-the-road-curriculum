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a coffee or a taxi fare, we want faster and cheaper.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Bitcoin is the strong base. Lightning is the fast layer on top. Same sats.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Lightning works in a similar way. Payments are instant and cheap.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right tool for the job. Large savings: on-chain. Daily spend: Lightning.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get paid: tap Receive, choose Lightning, enter amount, show the QR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careful habit as Session 3. Check before you confirm.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[CONFIRM whether your wallet gives each learner a Lightning address].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Shows learners a real, reusable Lightning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activity in exercise.md. Keep it lively and hands-on.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 Session 3 safety. Seed phrase on paper, never photographed.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Balanced and calm. Lightning is young but works well for daily spending.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few questions. Next we go to a real merchant.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13.jpg"/>
          <p:cNvPicPr>
            <a:picLocks noChangeAspect="1"/>
          </p:cNvPicPr>
          <p:nvPr/>
        </p:nvPicPr>
        <p:blipFill>
          <a:blip r:embed="rId2"/>
          <a:srcRect l="27000" r="27000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83680" y="0"/>
            <a:ext cx="73152" cy="6858000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t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370915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192024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46B07"/>
                </a:solidFill>
                <a:latin typeface="JetBrains Mono"/>
              </a:rPr>
              <a:t>DAY 1 · SESSION 4 · 60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852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5400" b="1">
                <a:solidFill>
                  <a:srgbClr val="0D0D0D"/>
                </a:solidFill>
                <a:latin typeface="Bricolage Grotesque"/>
              </a:rPr>
              <a:t>Lightning: paying and getting paid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572000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B1815"/>
                </a:solidFill>
                <a:latin typeface="Bricolage Grotesque"/>
              </a:rPr>
              <a:t>Fast, cheap Bitcoin payments, person to person.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035040"/>
            <a:ext cx="5394960" cy="1905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14476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815"/>
                </a:solidFill>
                <a:latin typeface="JetBrains Mono"/>
              </a:rPr>
              <a:t>satsontheroad.africa</a:t>
            </a:r>
            <a:r>
              <a:rPr sz="1200" b="0">
                <a:solidFill>
                  <a:srgbClr val="D8CDB3"/>
                </a:solidFill>
                <a:latin typeface="JetBrains Mono"/>
              </a:rPr>
              <a:t>    ·    </a:t>
            </a:r>
            <a:r>
              <a:rPr sz="1200" b="1">
                <a:solidFill>
                  <a:srgbClr val="C46B07"/>
                </a:solidFill>
                <a:latin typeface="JetBrains Mono"/>
              </a:rPr>
              <a:t>Driving Bitcoin across the African continent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4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On-chain payments are very secure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But they take about ten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And can cost more in fees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4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What Lightning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A fast layer built on top of Bitcoin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A quick lane for small payments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Instant, and very cheap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4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The café tab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Open a tab for the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Pay as you 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Settle the final total at the 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4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On-chain vs Lightning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On-chain: very secure, about 10 minutes, best for larger amounts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Lightning: instant, very low fees, best for everyday spending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4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A Lightning invoice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A request for a payment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The receiver creates it, often a QR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Can include a set amount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Used up once it is paid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4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To pay an invoice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Tap "Send"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Scan the invoice or QR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Check the amount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Confirm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4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A Lightning address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Looks like an email address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name@example.com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Reusable: people can pay you again and again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4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A real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The Sats On The Road fundraiser receives Lightning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Address: satsontheroadafrica@geyser.fund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A Lightning address in real 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4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Live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Sats relay across the 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Then pay the facilitator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Watch it arrive in seconds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4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When to use which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Lightning: small daily payments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On-chain: larger amounts and savings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Keep only spending money on your phone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4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An honest 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Payments can sometimes fail; the sats stay with the sender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Just try again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No financial advice, no predictions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DAY 1 · SESSION 4 · 60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Next: Market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Session 5, buy something real in sats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Glossary: ../../../translations/GLOSSARY.md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