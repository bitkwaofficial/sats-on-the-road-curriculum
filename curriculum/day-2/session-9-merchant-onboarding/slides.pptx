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tone: quick, respectful, never pushy.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Sell the problem you solve, not the technology. Practise saying it in one breath.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whole session on one slide. Everything else fills it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Never touch their seed phrase. Be clear about custodial vs self-custody.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less, show the sats landing. Then read the amount in [local currency].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what lets them run it alone after you leave.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name options that actually work in this country. Walk one end to end if time allows.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 the merchant kit for printable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exercise. Use the printed onboarding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here. Point to the quiz and the merchant kit.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13.jpg"/>
          <p:cNvPicPr>
            <a:picLocks noChangeAspect="1"/>
          </p:cNvPicPr>
          <p:nvPr/>
        </p:nvPicPr>
        <p:blipFill>
          <a:blip r:embed="rId2"/>
          <a:srcRect l="27000" r="27000"/>
          <a:stretch>
            <a:fillRect/>
          </a:stretch>
        </p:blipFill>
        <p:spPr>
          <a:xfrm>
            <a:off x="6583680" y="0"/>
            <a:ext cx="560801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583680" y="0"/>
            <a:ext cx="73152" cy="6858000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ot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1370915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192024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46B07"/>
                </a:solidFill>
                <a:latin typeface="JetBrains Mono"/>
              </a:rPr>
              <a:t>DAY 2 · SESSION 9 · 60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8521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5400" b="1">
                <a:solidFill>
                  <a:srgbClr val="0D0D0D"/>
                </a:solidFill>
                <a:latin typeface="Bricolage Grotesque"/>
              </a:rPr>
              <a:t>Onboarding a merchant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572000"/>
            <a:ext cx="5303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1B1815"/>
                </a:solidFill>
                <a:latin typeface="Bricolage Grotesque"/>
              </a:rPr>
              <a:t>Step by step, in the stall.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035040"/>
            <a:ext cx="5394960" cy="1905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14476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1815"/>
                </a:solidFill>
                <a:latin typeface="JetBrains Mono"/>
              </a:rPr>
              <a:t>satsontheroad.africa</a:t>
            </a:r>
            <a:r>
              <a:rPr sz="1200" b="0">
                <a:solidFill>
                  <a:srgbClr val="D8CDB3"/>
                </a:solidFill>
                <a:latin typeface="JetBrains Mono"/>
              </a:rPr>
              <a:t>    ·    </a:t>
            </a:r>
            <a:r>
              <a:rPr sz="1200" b="1">
                <a:solidFill>
                  <a:srgbClr val="C46B07"/>
                </a:solidFill>
                <a:latin typeface="JetBrains Mono"/>
              </a:rPr>
              <a:t>Driving Bitcoin across the African continent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2 · SESSION 9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Why merchants matter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No merchants, no circular economy.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A learner who can spend needs someone who can receive.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2 · SESSION 9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The value, in under a minute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Get paid directly, no chargebacks once confirmed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Low fees on Lightning 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Reach customers who hold Bitcoin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86784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Cash out to [local currency] when you want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2 · SESSION 9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The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Explain the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Set up receiving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Do a test payment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86784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Check it arrived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53712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Show cash-out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Leave the signage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2 · SESSION 9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Set up receiving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Install from the official source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Create and back up a seed phrase (they keep it)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Find the Lightning address or Receive QR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86784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Show the QR on the phone or a printed stand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2 · SESSION 9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Do a test payment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Send a small, real payment.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Let the merchant watch their own screen.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The moment it lands is the moment they believe.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2 · SESSION 9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Check it arrived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Show them the wallet history.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A confirmed payment shows there.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Now they can check any sale without you.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2 · SESSION 9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Show cash-out, honestly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Options where they work locally: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[CONFIRM per country: e.g. Vexl, Banxaas, BitSpenda, Machankura]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Never promise a rate.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2 · SESSION 9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Leave the signage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Place the "Bitcoin accepted here" sign and QR stand.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Add the merchant to the stop's record.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Agree a simple follow-up.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2 · SESSION 9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Role-play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One plays a busy merchant.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One plays the ambassador.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Work straight down the checklist, then swap.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2 · SESSION 9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Respect their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Show, do not just tell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Never promise a 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86784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Leave them able to do it alone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